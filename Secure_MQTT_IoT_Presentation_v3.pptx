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securing MQTT-based IoT messaging, starting from cryptographic protection and extending to authorization, accounting and non-repudiation.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 are already covered by the implemented work; accounting and non-repudiation are the graduation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Problems that motivated the project and how each is addressed. The first four are solved by the implemented work (ECC/AES/HMAC and ABAC); the last is addressed by the two planned graduation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of the ten related studies from the report, chosen for relevance to key setup, ECC-AES design and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stages. ABAC is the new idea in the current semester project; accounting and non-repudiation are the two graduation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sender script runs four test cases; the receiver decrypts, verifies the HMAC, and applies the ABAC policy. Case 2 shows that permitted attributes alone are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 follows the report: Ubuntu VM, Python 3, Mosquitto, paho-mqtt, hmac and hashlib, VS Code. The cryptography and PyCryptodome libraries come from the implementation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from the flowcharts and pseudocode: sender and receiver algorithms and the ABAC decision flow. Denied events are logged, which the accounting phase will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ABAC flow chart: receive, extract attributes, evaluate policy, decision, then grant and process or deny and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 1 in full: key setup once, then a loop over four test cases that build, optionally corrupt, and publish each packet.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 2 in full: validate packet, derive key, decrypt, check HMAC, then apply ABAC and print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23444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large"/>
          <p:cNvSpPr/>
          <p:nvPr/>
        </p:nvSpPr>
        <p:spPr>
          <a:xfrm>
            <a:off x="6309360" y="365760"/>
            <a:ext cx="3291840" cy="32918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ecor circle small"/>
          <p:cNvSpPr/>
          <p:nvPr/>
        </p:nvSpPr>
        <p:spPr>
          <a:xfrm>
            <a:off x="7498080" y="2651760"/>
            <a:ext cx="2011680" cy="2011680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Lock circle"/>
          <p:cNvSpPr/>
          <p:nvPr/>
        </p:nvSpPr>
        <p:spPr>
          <a:xfrm>
            <a:off x="6903720" y="10972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771" y="1278331"/>
            <a:ext cx="460858" cy="460858"/>
          </a:xfrm>
          <a:prstGeom prst="rect">
            <a:avLst/>
          </a:prstGeom>
        </p:spPr>
      </p:pic>
      <p:sp>
        <p:nvSpPr>
          <p:cNvPr id="6" name="Key circle"/>
          <p:cNvSpPr/>
          <p:nvPr/>
        </p:nvSpPr>
        <p:spPr>
          <a:xfrm>
            <a:off x="7818120" y="10972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mage 1" descr="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171" y="1278331"/>
            <a:ext cx="460858" cy="460858"/>
          </a:xfrm>
          <a:prstGeom prst="rect">
            <a:avLst/>
          </a:prstGeom>
        </p:spPr>
      </p:pic>
      <p:sp>
        <p:nvSpPr>
          <p:cNvPr id="8" name="Shield circle"/>
          <p:cNvSpPr/>
          <p:nvPr/>
        </p:nvSpPr>
        <p:spPr>
          <a:xfrm>
            <a:off x="7360920" y="196596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2" descr="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71" y="2147011"/>
            <a:ext cx="460858" cy="46085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GRADUATION PROJECT PRESENTATION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548640" y="12344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Secure MQTT-Based IoT Communication: From Cryptography to Authorization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Sidrah Al-Ajlouni  |  Tareq Al-Shhadat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3566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</a:rPr>
              <a:t>Supervised by Dr. Wasim Al-Juneidi and Eng. Abdulrahman Arar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</a:rPr>
              <a:t>Syrian Private University, Faculty of Artificial Intelligence Engineering  |  2026/2027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MAIN OBJECTIVE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Secure MQTT-based IoT communication so that messages are protected, verified, and only accepted from authorized devices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</a:rPr>
              <a:t>The project grows in stages: from protecting message content, to controlling who may act, to recording and proving those actions.</a:t>
            </a:r>
            <a:endParaRPr lang="en-US" sz="1400" dirty="0"/>
          </a:p>
        </p:txBody>
      </p:sp>
      <p:sp>
        <p:nvSpPr>
          <p:cNvPr id="6" name="Legend implemented"/>
          <p:cNvSpPr/>
          <p:nvPr/>
        </p:nvSpPr>
        <p:spPr>
          <a:xfrm>
            <a:off x="457200" y="438912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43342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Implemented</a:t>
            </a:r>
            <a:endParaRPr lang="en-US" sz="1200" dirty="0"/>
          </a:p>
        </p:txBody>
      </p:sp>
      <p:sp>
        <p:nvSpPr>
          <p:cNvPr id="8" name="Legend planned"/>
          <p:cNvSpPr/>
          <p:nvPr/>
        </p:nvSpPr>
        <p:spPr>
          <a:xfrm>
            <a:off x="1828800" y="438912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29968" y="43342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Planned</a:t>
            </a:r>
            <a:endParaRPr lang="en-US" sz="1200" dirty="0"/>
          </a:p>
        </p:txBody>
      </p:sp>
      <p:sp>
        <p:nvSpPr>
          <p:cNvPr id="10" name="Objective card 1"/>
          <p:cNvSpPr/>
          <p:nvPr/>
        </p:nvSpPr>
        <p:spPr>
          <a:xfrm>
            <a:off x="4023360" y="1234440"/>
            <a:ext cx="22860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onfidentiality circle"/>
          <p:cNvSpPr/>
          <p:nvPr/>
        </p:nvSpPr>
        <p:spPr>
          <a:xfrm>
            <a:off x="4133088" y="1344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0" descr="Confidentia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7579" y="1428659"/>
            <a:ext cx="215067" cy="21506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617720" y="13441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Confidentiality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133088" y="182880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AES-EAX encrypts every message</a:t>
            </a:r>
            <a:endParaRPr lang="en-US" sz="1200" dirty="0"/>
          </a:p>
        </p:txBody>
      </p:sp>
      <p:sp>
        <p:nvSpPr>
          <p:cNvPr id="15" name="Objective card 2"/>
          <p:cNvSpPr/>
          <p:nvPr/>
        </p:nvSpPr>
        <p:spPr>
          <a:xfrm>
            <a:off x="6400800" y="1234440"/>
            <a:ext cx="22860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ecure key setup circle"/>
          <p:cNvSpPr/>
          <p:nvPr/>
        </p:nvSpPr>
        <p:spPr>
          <a:xfrm>
            <a:off x="6510528" y="1344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1" descr="Secure key set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019" y="1428659"/>
            <a:ext cx="215067" cy="21506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995160" y="13441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Secure key setup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510528" y="182880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ECDH + HKDF derive the AES key</a:t>
            </a:r>
            <a:endParaRPr lang="en-US" sz="1200" dirty="0"/>
          </a:p>
        </p:txBody>
      </p:sp>
      <p:sp>
        <p:nvSpPr>
          <p:cNvPr id="20" name="Objective card 3"/>
          <p:cNvSpPr/>
          <p:nvPr/>
        </p:nvSpPr>
        <p:spPr>
          <a:xfrm>
            <a:off x="4023360" y="2423160"/>
            <a:ext cx="22860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ntegrity circle"/>
          <p:cNvSpPr/>
          <p:nvPr/>
        </p:nvSpPr>
        <p:spPr>
          <a:xfrm>
            <a:off x="4133088" y="2532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Integr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579" y="2617379"/>
            <a:ext cx="215067" cy="21506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617720" y="25328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Integrity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133088" y="301752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HMAC-SHA256 detects tampering</a:t>
            </a:r>
            <a:endParaRPr lang="en-US" sz="1200" dirty="0"/>
          </a:p>
        </p:txBody>
      </p:sp>
      <p:sp>
        <p:nvSpPr>
          <p:cNvPr id="25" name="Objective card 4"/>
          <p:cNvSpPr/>
          <p:nvPr/>
        </p:nvSpPr>
        <p:spPr>
          <a:xfrm>
            <a:off x="6400800" y="2423160"/>
            <a:ext cx="22860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Authorization circle"/>
          <p:cNvSpPr/>
          <p:nvPr/>
        </p:nvSpPr>
        <p:spPr>
          <a:xfrm>
            <a:off x="6510528" y="2532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3" descr="Authoriz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019" y="2617379"/>
            <a:ext cx="215067" cy="21506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95160" y="25328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Authorization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510528" y="301752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ABAC decides who may publish</a:t>
            </a:r>
            <a:endParaRPr lang="en-US" sz="1200" dirty="0"/>
          </a:p>
        </p:txBody>
      </p:sp>
      <p:sp>
        <p:nvSpPr>
          <p:cNvPr id="30" name="Objective card 5"/>
          <p:cNvSpPr/>
          <p:nvPr/>
        </p:nvSpPr>
        <p:spPr>
          <a:xfrm>
            <a:off x="4023360" y="3611880"/>
            <a:ext cx="22860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Accounting circle"/>
          <p:cNvSpPr/>
          <p:nvPr/>
        </p:nvSpPr>
        <p:spPr>
          <a:xfrm>
            <a:off x="4133088" y="37216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Image 4" descr="Account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7579" y="3806099"/>
            <a:ext cx="215067" cy="21506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4617720" y="3721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Accounting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4133088" y="42062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Record every access decision</a:t>
            </a:r>
            <a:endParaRPr lang="en-US" sz="1200" dirty="0"/>
          </a:p>
        </p:txBody>
      </p:sp>
      <p:sp>
        <p:nvSpPr>
          <p:cNvPr id="35" name="Objective card 6"/>
          <p:cNvSpPr/>
          <p:nvPr/>
        </p:nvSpPr>
        <p:spPr>
          <a:xfrm>
            <a:off x="6400800" y="3611880"/>
            <a:ext cx="22860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Non-repudiation circle"/>
          <p:cNvSpPr/>
          <p:nvPr/>
        </p:nvSpPr>
        <p:spPr>
          <a:xfrm>
            <a:off x="6510528" y="37216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Image 5" descr="Non-repudi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019" y="3806099"/>
            <a:ext cx="215067" cy="215067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995160" y="3721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Non-repudiation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6510528" y="420624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Signatures prove who sent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Problems behind the project and our solutions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800600" y="10241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5" name="Problem card 1"/>
          <p:cNvSpPr/>
          <p:nvPr/>
        </p:nvSpPr>
        <p:spPr>
          <a:xfrm>
            <a:off x="457200" y="128016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801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Messages travel in clear text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MQTT does not hide payloads in transit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70832" y="1563624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olution card 1"/>
          <p:cNvSpPr/>
          <p:nvPr/>
        </p:nvSpPr>
        <p:spPr>
          <a:xfrm>
            <a:off x="4800600" y="1280160"/>
            <a:ext cx="388620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2700">
            <a:solidFill>
              <a:srgbClr val="E3F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0328" y="128016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AES-EAX encryption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Key derived with ECDH + HKDF, no key sent</a:t>
            </a:r>
            <a:endParaRPr lang="en-US" sz="1300" dirty="0"/>
          </a:p>
        </p:txBody>
      </p:sp>
      <p:sp>
        <p:nvSpPr>
          <p:cNvPr id="10" name="Problem card 2"/>
          <p:cNvSpPr/>
          <p:nvPr/>
        </p:nvSpPr>
        <p:spPr>
          <a:xfrm>
            <a:off x="457200" y="19385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9385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Messages can be modified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changed payload may look genuine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0832" y="2221992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olution card 2"/>
          <p:cNvSpPr/>
          <p:nvPr/>
        </p:nvSpPr>
        <p:spPr>
          <a:xfrm>
            <a:off x="4800600" y="1938528"/>
            <a:ext cx="388620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2700">
            <a:solidFill>
              <a:srgbClr val="E3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10328" y="193852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HMAC-SHA256 + EAX tag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Tampered messages fail verification</a:t>
            </a:r>
            <a:endParaRPr lang="en-US" sz="1300" dirty="0"/>
          </a:p>
        </p:txBody>
      </p:sp>
      <p:sp>
        <p:nvSpPr>
          <p:cNvPr id="15" name="Problem card 3"/>
          <p:cNvSpPr/>
          <p:nvPr/>
        </p:nvSpPr>
        <p:spPr>
          <a:xfrm>
            <a:off x="457200" y="2596896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5968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 valid message is not always allowed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Encryption does not say who may publish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70832" y="288036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olution card 3"/>
          <p:cNvSpPr/>
          <p:nvPr/>
        </p:nvSpPr>
        <p:spPr>
          <a:xfrm>
            <a:off x="4800600" y="2596896"/>
            <a:ext cx="388620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2700">
            <a:solidFill>
              <a:srgbClr val="E3F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10328" y="259689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ABAC authorization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Role, device, topic, action and location</a:t>
            </a:r>
            <a:endParaRPr lang="en-US" sz="1300" dirty="0"/>
          </a:p>
        </p:txBody>
      </p:sp>
      <p:sp>
        <p:nvSpPr>
          <p:cNvPr id="20" name="Problem card 4"/>
          <p:cNvSpPr/>
          <p:nvPr/>
        </p:nvSpPr>
        <p:spPr>
          <a:xfrm>
            <a:off x="457200" y="325526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25526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Malformed packets reach the receiver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Missing fields cause errors or bypass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70832" y="3538728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olution card 4"/>
          <p:cNvSpPr/>
          <p:nvPr/>
        </p:nvSpPr>
        <p:spPr>
          <a:xfrm>
            <a:off x="4800600" y="3255264"/>
            <a:ext cx="3886200" cy="566928"/>
          </a:xfrm>
          <a:prstGeom prst="roundRect">
            <a:avLst>
              <a:gd name="adj" fmla="val 12903"/>
            </a:avLst>
          </a:prstGeom>
          <a:solidFill>
            <a:srgbClr val="E3F3EC"/>
          </a:solidFill>
          <a:ln w="12700">
            <a:solidFill>
              <a:srgbClr val="E3F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10328" y="325526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Packet validation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Rejected with a clear denial reason</a:t>
            </a:r>
            <a:endParaRPr lang="en-US" sz="1300" dirty="0"/>
          </a:p>
        </p:txBody>
      </p:sp>
      <p:sp>
        <p:nvSpPr>
          <p:cNvPr id="25" name="Problem card 5"/>
          <p:cNvSpPr/>
          <p:nvPr/>
        </p:nvSpPr>
        <p:spPr>
          <a:xfrm>
            <a:off x="457200" y="391363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39136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 audit trail, no proof of sender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shared HMAC key cannot prove who sent 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70832" y="4197096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olution card 5"/>
          <p:cNvSpPr/>
          <p:nvPr/>
        </p:nvSpPr>
        <p:spPr>
          <a:xfrm>
            <a:off x="4800600" y="3913632"/>
            <a:ext cx="3886200" cy="566928"/>
          </a:xfrm>
          <a:prstGeom prst="roundRect">
            <a:avLst>
              <a:gd name="adj" fmla="val 12903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10328" y="391363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Accounting + signatures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Planned graduation projects 1 and 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Reference study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shows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Link to our project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Singh et al. (2026), Computer Networks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Compares lightweight key-sharing methods for MQTT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Justifies evaluating our ECC + HKDF key setup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Chen and Wilson (2026), Array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MQTT access control with end-to-end payload protection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Authorization is a layer separate from encryption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James et al. (2025), IEEE CSR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MQTT-ZT broker applying ABAC through a policy enforcement point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Direct reference for our ABAC phase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Del-Valle-Soto et al. (2026), Pervasive and Mobile Computing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Compares TLS with ECC + AES on ESP32 devices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Closest match to our ECC + AES design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Huan and Xie (2026), Scientific Reports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Hybrid ECC-AES framework for IoT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Supports asymmetric key setup with symmetric encryption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Ma and Chiu (2025), Int. J. of Information Security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Risk-based access control in Zero Trust IoT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Possible extension beyond static policies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</a:rPr>
              <a:t>These studies inform our design; their results are not measurements of our system.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phases</a:t>
            </a:r>
            <a:endParaRPr lang="en-US" sz="3000" dirty="0"/>
          </a:p>
        </p:txBody>
      </p:sp>
      <p:sp>
        <p:nvSpPr>
          <p:cNvPr id="3" name="Phase card 01"/>
          <p:cNvSpPr/>
          <p:nvPr/>
        </p:nvSpPr>
        <p:spPr>
          <a:xfrm>
            <a:off x="457200" y="1188720"/>
            <a:ext cx="1920240" cy="29260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tatus pill 01"/>
          <p:cNvSpPr/>
          <p:nvPr/>
        </p:nvSpPr>
        <p:spPr>
          <a:xfrm>
            <a:off x="1371600" y="1389888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3898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Completed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AES, ECC and HMAC applications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60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Secure MQTT messaging between two simulated IoT devices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F"/>
                </a:solidFill>
              </a:rPr>
              <a:t>GOAL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Confidentiality and integrity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86584" y="2606040"/>
            <a:ext cx="16459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Phase card 02"/>
          <p:cNvSpPr/>
          <p:nvPr/>
        </p:nvSpPr>
        <p:spPr>
          <a:xfrm>
            <a:off x="2560320" y="1188720"/>
            <a:ext cx="1920240" cy="29260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1280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tatus pill 02"/>
          <p:cNvSpPr/>
          <p:nvPr/>
        </p:nvSpPr>
        <p:spPr>
          <a:xfrm>
            <a:off x="3474720" y="1389888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13898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Current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Authorization (ABAC)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560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Semester project adding an attribute-based access layer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F"/>
                </a:solidFill>
              </a:rPr>
              <a:t>GOAL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Who may publish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9704" y="2606040"/>
            <a:ext cx="16459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Phase card 03"/>
          <p:cNvSpPr/>
          <p:nvPr/>
        </p:nvSpPr>
        <p:spPr>
          <a:xfrm>
            <a:off x="4663440" y="1188720"/>
            <a:ext cx="1920240" cy="29260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1280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Status pill 03"/>
          <p:cNvSpPr/>
          <p:nvPr/>
        </p:nvSpPr>
        <p:spPr>
          <a:xfrm>
            <a:off x="5577840" y="1389888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13898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Planned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Graduation Project 1: Accounting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2560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Record and audit every access decision and security event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F"/>
                </a:solidFill>
              </a:rPr>
              <a:t>GOAL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Accountability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92824" y="2606040"/>
            <a:ext cx="16459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Phase card 04"/>
          <p:cNvSpPr/>
          <p:nvPr/>
        </p:nvSpPr>
        <p:spPr>
          <a:xfrm>
            <a:off x="6766560" y="1188720"/>
            <a:ext cx="1920240" cy="29260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1280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2" name="Status pill 04"/>
          <p:cNvSpPr/>
          <p:nvPr/>
        </p:nvSpPr>
        <p:spPr>
          <a:xfrm>
            <a:off x="7680960" y="1389888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80960" y="13898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Planned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Graduation Project 2: Non-repudiation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2560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Digital signatures so senders cannot deny their messages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6B7F"/>
                </a:solidFill>
              </a:rPr>
              <a:t>GOAL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Proof of origin</a:t>
            </a:r>
            <a:endParaRPr lang="en-US" sz="1200" dirty="0"/>
          </a:p>
        </p:txBody>
      </p:sp>
      <p:sp>
        <p:nvSpPr>
          <p:cNvPr id="38" name="Progression band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Confidentiality + Integrity   →   Authorization   →   Accountability   →   Non-repudiation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Phase 2: ABAC authorization</a:t>
            </a:r>
            <a:endParaRPr lang="en-US" sz="3000" dirty="0"/>
          </a:p>
        </p:txBody>
      </p:sp>
      <p:sp>
        <p:nvSpPr>
          <p:cNvPr id="3" name="ABAC policy card"/>
          <p:cNvSpPr/>
          <p:nvPr/>
        </p:nvSpPr>
        <p:spPr>
          <a:xfrm>
            <a:off x="457200" y="1188720"/>
            <a:ext cx="301752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ABAC POLICY (RECEIVER)</a:t>
            </a:r>
            <a:endParaRPr lang="en-US" sz="1100" dirty="0"/>
          </a:p>
        </p:txBody>
      </p:sp>
      <p:sp>
        <p:nvSpPr>
          <p:cNvPr id="5" name="Attribute row 1"/>
          <p:cNvSpPr/>
          <p:nvPr/>
        </p:nvSpPr>
        <p:spPr>
          <a:xfrm>
            <a:off x="594360" y="1645920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subject_role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645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sensor</a:t>
            </a:r>
            <a:endParaRPr lang="en-US" sz="1200" dirty="0"/>
          </a:p>
        </p:txBody>
      </p:sp>
      <p:sp>
        <p:nvSpPr>
          <p:cNvPr id="8" name="Attribute row 2"/>
          <p:cNvSpPr/>
          <p:nvPr/>
        </p:nvSpPr>
        <p:spPr>
          <a:xfrm>
            <a:off x="594360" y="2039112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039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device_id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0391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sensor-01 to 04</a:t>
            </a:r>
            <a:endParaRPr lang="en-US" sz="1200" dirty="0"/>
          </a:p>
        </p:txBody>
      </p:sp>
      <p:sp>
        <p:nvSpPr>
          <p:cNvPr id="11" name="Attribute row 3"/>
          <p:cNvSpPr/>
          <p:nvPr/>
        </p:nvSpPr>
        <p:spPr>
          <a:xfrm>
            <a:off x="594360" y="2432304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432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resource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24323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iot/message</a:t>
            </a:r>
            <a:endParaRPr lang="en-US" sz="1200" dirty="0"/>
          </a:p>
        </p:txBody>
      </p:sp>
      <p:sp>
        <p:nvSpPr>
          <p:cNvPr id="14" name="Attribute row 4"/>
          <p:cNvSpPr/>
          <p:nvPr/>
        </p:nvSpPr>
        <p:spPr>
          <a:xfrm>
            <a:off x="594360" y="2825496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28254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action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28254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publish</a:t>
            </a:r>
            <a:endParaRPr lang="en-US" sz="1200" dirty="0"/>
          </a:p>
        </p:txBody>
      </p:sp>
      <p:sp>
        <p:nvSpPr>
          <p:cNvPr id="17" name="Attribute row 5"/>
          <p:cNvSpPr/>
          <p:nvPr/>
        </p:nvSpPr>
        <p:spPr>
          <a:xfrm>
            <a:off x="594360" y="3218688"/>
            <a:ext cx="27432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2186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location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32186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</a:rPr>
              <a:t>Every condition must hold to allow access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325880"/>
                <a:gridCol w="1554480"/>
                <a:gridCol w="1783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Fault injected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Valid sensor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8F5B"/>
                          </a:solidFill>
                        </a:rPr>
                        <a:t>Access granted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Tampered HMAC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HMAC replaced with zeros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3B4E"/>
                          </a:solidFill>
                        </a:rPr>
                        <a:t>Policy allows, message rejected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Unauthorized role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subject_role = guest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3B4E"/>
                          </a:solidFill>
                        </a:rPr>
                        <a:t>Denied by ABAC policy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Incomplete packet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Nonce removed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3B4E"/>
                          </a:solidFill>
                        </a:rPr>
                        <a:t>Denied: invalid packet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22" name="Insight band"/>
          <p:cNvSpPr/>
          <p:nvPr/>
        </p:nvSpPr>
        <p:spPr>
          <a:xfrm>
            <a:off x="3657600" y="3886200"/>
            <a:ext cx="5029200" cy="36576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5760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 valid HMAC does not grant permission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Four test cases separate integrity checks from authorization decisions.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Tools and work environment</a:t>
            </a:r>
            <a:endParaRPr lang="en-US" sz="3000" dirty="0"/>
          </a:p>
        </p:txBody>
      </p:sp>
      <p:sp>
        <p:nvSpPr>
          <p:cNvPr id="3" name="Tool tile 1"/>
          <p:cNvSpPr/>
          <p:nvPr/>
        </p:nvSpPr>
        <p:spPr>
          <a:xfrm>
            <a:off x="457200" y="11430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PLATFORM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Ubuntu Linux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928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Runs in a VMware Workstation virtual machine</a:t>
            </a:r>
            <a:endParaRPr lang="en-US" sz="1200" dirty="0"/>
          </a:p>
        </p:txBody>
      </p:sp>
      <p:sp>
        <p:nvSpPr>
          <p:cNvPr id="7" name="Tool tile 2"/>
          <p:cNvSpPr/>
          <p:nvPr/>
        </p:nvSpPr>
        <p:spPr>
          <a:xfrm>
            <a:off x="2560320" y="11430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80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LANGUAGE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8928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Publisher, subscriber and security logic</a:t>
            </a:r>
            <a:endParaRPr lang="en-US" sz="1200" dirty="0"/>
          </a:p>
        </p:txBody>
      </p:sp>
      <p:sp>
        <p:nvSpPr>
          <p:cNvPr id="11" name="Tool tile 3"/>
          <p:cNvSpPr/>
          <p:nvPr/>
        </p:nvSpPr>
        <p:spPr>
          <a:xfrm>
            <a:off x="4663440" y="11430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280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BROKER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Eclipse Mosquitto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928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Lightweight MQTT broker and client tools</a:t>
            </a:r>
            <a:endParaRPr lang="en-US" sz="1200" dirty="0"/>
          </a:p>
        </p:txBody>
      </p:sp>
      <p:sp>
        <p:nvSpPr>
          <p:cNvPr id="15" name="Tool tile 4"/>
          <p:cNvSpPr/>
          <p:nvPr/>
        </p:nvSpPr>
        <p:spPr>
          <a:xfrm>
            <a:off x="6766560" y="114300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03720" y="1280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MQTT CLIENT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527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paho-mqtt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8928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Publish and subscribe from Python</a:t>
            </a:r>
            <a:endParaRPr lang="en-US" sz="1200" dirty="0"/>
          </a:p>
        </p:txBody>
      </p:sp>
      <p:sp>
        <p:nvSpPr>
          <p:cNvPr id="19" name="Tool tile 5"/>
          <p:cNvSpPr/>
          <p:nvPr/>
        </p:nvSpPr>
        <p:spPr>
          <a:xfrm>
            <a:off x="457200" y="26517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KEY EXCHANGE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0358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cryptography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4015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ECDH on SECP256R1 and HKDF-SHA256</a:t>
            </a:r>
            <a:endParaRPr lang="en-US" sz="1200" dirty="0"/>
          </a:p>
        </p:txBody>
      </p:sp>
      <p:sp>
        <p:nvSpPr>
          <p:cNvPr id="23" name="Tool tile 6"/>
          <p:cNvSpPr/>
          <p:nvPr/>
        </p:nvSpPr>
        <p:spPr>
          <a:xfrm>
            <a:off x="2560320" y="26517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97480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ENCRYPTION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30358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PyCryptodome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34015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AES in EAX mode (nonce and tag)</a:t>
            </a:r>
            <a:endParaRPr lang="en-US" sz="1200" dirty="0"/>
          </a:p>
        </p:txBody>
      </p:sp>
      <p:sp>
        <p:nvSpPr>
          <p:cNvPr id="27" name="Tool tile 7"/>
          <p:cNvSpPr/>
          <p:nvPr/>
        </p:nvSpPr>
        <p:spPr>
          <a:xfrm>
            <a:off x="4663440" y="26517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INTEGRITY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0358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hmac + hashlib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4015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Built-in HMAC-SHA256</a:t>
            </a:r>
            <a:endParaRPr lang="en-US" sz="1200" dirty="0"/>
          </a:p>
        </p:txBody>
      </p:sp>
      <p:sp>
        <p:nvSpPr>
          <p:cNvPr id="31" name="Tool tile 8"/>
          <p:cNvSpPr/>
          <p:nvPr/>
        </p:nvSpPr>
        <p:spPr>
          <a:xfrm>
            <a:off x="6766560" y="26517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DEVELOPMENT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30358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VS Code + Git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4015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Editing, debugging, version control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</a:rPr>
              <a:t>A pure software simulation was chosen over cloud, enterprise, hardware or network-simulator setups: full control, easy packet capture, and a lightweight stack.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Implementation plan: message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SENDER</a:t>
            </a:r>
            <a:endParaRPr lang="en-US" sz="1100" dirty="0"/>
          </a:p>
        </p:txBody>
      </p:sp>
      <p:sp>
        <p:nvSpPr>
          <p:cNvPr id="4" name="SENDER step 1"/>
          <p:cNvSpPr/>
          <p:nvPr/>
        </p:nvSpPr>
        <p:spPr>
          <a:xfrm>
            <a:off x="457200" y="13716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716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Generate keys, load receiver key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47088" y="1714500"/>
            <a:ext cx="3108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ENDER step 2"/>
          <p:cNvSpPr/>
          <p:nvPr/>
        </p:nvSpPr>
        <p:spPr>
          <a:xfrm>
            <a:off x="2171700" y="13716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26564" y="13716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ECDH + HKDF derive AES key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1588" y="1714500"/>
            <a:ext cx="3108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ENDER step 3"/>
          <p:cNvSpPr/>
          <p:nvPr/>
        </p:nvSpPr>
        <p:spPr>
          <a:xfrm>
            <a:off x="3886200" y="13716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41064" y="13716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Serialize message + attributes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76088" y="1714500"/>
            <a:ext cx="3108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ENDER step 4"/>
          <p:cNvSpPr/>
          <p:nvPr/>
        </p:nvSpPr>
        <p:spPr>
          <a:xfrm>
            <a:off x="5600700" y="13716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55564" y="13716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HMAC, then AES-EAX encrypt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0588" y="1714500"/>
            <a:ext cx="3108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ENDER step 5"/>
          <p:cNvSpPr/>
          <p:nvPr/>
        </p:nvSpPr>
        <p:spPr>
          <a:xfrm>
            <a:off x="7315200" y="13716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0064" y="13716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Publish packet to broker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2148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F"/>
                </a:solidFill>
              </a:rPr>
              <a:t>via Mosquitto broker (topic iot/message)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RECEIVER</a:t>
            </a:r>
            <a:endParaRPr lang="en-US" sz="1100" dirty="0"/>
          </a:p>
        </p:txBody>
      </p:sp>
      <p:sp>
        <p:nvSpPr>
          <p:cNvPr id="20" name="RECEIVER step 1"/>
          <p:cNvSpPr/>
          <p:nvPr/>
        </p:nvSpPr>
        <p:spPr>
          <a:xfrm>
            <a:off x="457200" y="27432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" y="27432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Check required fields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47088" y="3086100"/>
            <a:ext cx="3108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RECEIVER step 2"/>
          <p:cNvSpPr/>
          <p:nvPr/>
        </p:nvSpPr>
        <p:spPr>
          <a:xfrm>
            <a:off x="2171700" y="27432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26564" y="27432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ECDH + HKDF derive AES key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61588" y="3086100"/>
            <a:ext cx="3108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RECEIVER step 3"/>
          <p:cNvSpPr/>
          <p:nvPr/>
        </p:nvSpPr>
        <p:spPr>
          <a:xfrm>
            <a:off x="3886200" y="27432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41064" y="27432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Decrypt and verify EAX tag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76088" y="3086100"/>
            <a:ext cx="3108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RECEIVER step 4"/>
          <p:cNvSpPr/>
          <p:nvPr/>
        </p:nvSpPr>
        <p:spPr>
          <a:xfrm>
            <a:off x="5600700" y="27432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55564" y="27432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Verify HMAC, apply ABAC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90588" y="3086100"/>
            <a:ext cx="3108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RECEIVER step 5"/>
          <p:cNvSpPr/>
          <p:nvPr/>
        </p:nvSpPr>
        <p:spPr>
          <a:xfrm>
            <a:off x="7315200" y="2743200"/>
            <a:ext cx="13716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70064" y="27432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Grant or deny access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584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DECISION OUTCOMES</a:t>
            </a:r>
            <a:endParaRPr lang="en-US" sz="1100" dirty="0"/>
          </a:p>
        </p:txBody>
      </p:sp>
      <p:sp>
        <p:nvSpPr>
          <p:cNvPr id="35" name="Granted pill"/>
          <p:cNvSpPr/>
          <p:nvPr/>
        </p:nvSpPr>
        <p:spPr>
          <a:xfrm>
            <a:off x="457200" y="3858768"/>
            <a:ext cx="4023360" cy="5486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8587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Access granted: policy satisfied, HMAC valid</a:t>
            </a:r>
            <a:endParaRPr lang="en-US" sz="1300" dirty="0"/>
          </a:p>
        </p:txBody>
      </p:sp>
      <p:sp>
        <p:nvSpPr>
          <p:cNvPr id="37" name="Denied pill"/>
          <p:cNvSpPr/>
          <p:nvPr/>
        </p:nvSpPr>
        <p:spPr>
          <a:xfrm>
            <a:off x="4663440" y="3858768"/>
            <a:ext cx="4023360" cy="54864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09160" y="38587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Access denied: invalid packet, bad tag, policy or tampering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Flow chart: ABAC access control</a:t>
            </a:r>
            <a:endParaRPr lang="en-US" sz="3000" dirty="0"/>
          </a:p>
        </p:txBody>
      </p:sp>
      <p:sp>
        <p:nvSpPr>
          <p:cNvPr id="3" name="Flow step 1"/>
          <p:cNvSpPr/>
          <p:nvPr/>
        </p:nvSpPr>
        <p:spPr>
          <a:xfrm>
            <a:off x="3200400" y="1051560"/>
            <a:ext cx="27432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4612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1. Receive MQTT message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Publish or subscribe request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508760"/>
            <a:ext cx="0" cy="1828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Flow step 2"/>
          <p:cNvSpPr/>
          <p:nvPr/>
        </p:nvSpPr>
        <p:spPr>
          <a:xfrm>
            <a:off x="3200400" y="1691640"/>
            <a:ext cx="274320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2. Extract request attributes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Relevant attributes of the request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148840"/>
            <a:ext cx="0" cy="1828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Flow step 3"/>
          <p:cNvSpPr/>
          <p:nvPr/>
        </p:nvSpPr>
        <p:spPr>
          <a:xfrm>
            <a:off x="3200400" y="2331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DF1DC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3. Evaluate ABAC policy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Compare attributes with access rules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788920"/>
            <a:ext cx="0" cy="1828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Flow decision"/>
          <p:cNvSpPr/>
          <p:nvPr/>
        </p:nvSpPr>
        <p:spPr>
          <a:xfrm>
            <a:off x="3291840" y="2971800"/>
            <a:ext cx="2560320" cy="822960"/>
          </a:xfrm>
          <a:prstGeom prst="diamond">
            <a:avLst/>
          </a:prstGeom>
          <a:solidFill>
            <a:srgbClr val="FBE4E7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3017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4. Does the request satisfy the policy?</a:t>
            </a:r>
            <a:endParaRPr lang="en-US" sz="1100" dirty="0"/>
          </a:p>
        </p:txBody>
      </p:sp>
      <p:sp>
        <p:nvSpPr>
          <p:cNvPr id="14" name="Request attributes"/>
          <p:cNvSpPr/>
          <p:nvPr/>
        </p:nvSpPr>
        <p:spPr>
          <a:xfrm>
            <a:off x="457200" y="10515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E3F3EC"/>
          </a:solidFill>
          <a:ln w="9525">
            <a:solidFill>
              <a:srgbClr val="BFE0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1115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Request attributes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1389888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Subject (role)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Device (ID)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Resource (MQTT topic)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Action (publish / subscribe)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Environment (location, time)</a:t>
            </a:r>
            <a:endParaRPr lang="en-US" sz="1100" dirty="0"/>
          </a:p>
        </p:txBody>
      </p:sp>
      <p:sp>
        <p:nvSpPr>
          <p:cNvPr id="17" name="Access control policies"/>
          <p:cNvSpPr/>
          <p:nvPr/>
        </p:nvSpPr>
        <p:spPr>
          <a:xfrm>
            <a:off x="6309360" y="10515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E4EEF8"/>
          </a:solidFill>
          <a:ln w="9525">
            <a:solidFill>
              <a:srgbClr val="BFD2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19088" y="1115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Access control policies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19088" y="1389888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Attribute conditions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Allowed actions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Allowed topics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Environment constraints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Permit / deny rules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1920240"/>
            <a:ext cx="3657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6309360" y="2560320"/>
            <a:ext cx="-3657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291840" y="3383280"/>
            <a:ext cx="-150876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3383280"/>
            <a:ext cx="0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52160" y="3383280"/>
            <a:ext cx="150876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3383280"/>
            <a:ext cx="0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286000" y="3154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Yes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154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</a:t>
            </a:r>
            <a:endParaRPr lang="en-US" sz="1100" dirty="0"/>
          </a:p>
        </p:txBody>
      </p:sp>
      <p:sp>
        <p:nvSpPr>
          <p:cNvPr id="28" name="Flow granted"/>
          <p:cNvSpPr/>
          <p:nvPr/>
        </p:nvSpPr>
        <p:spPr>
          <a:xfrm>
            <a:off x="548640" y="365760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3F3EC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657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5. Access granted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Continue message processing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83080" y="4041648"/>
            <a:ext cx="0" cy="10972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Flow process"/>
          <p:cNvSpPr/>
          <p:nvPr/>
        </p:nvSpPr>
        <p:spPr>
          <a:xfrm>
            <a:off x="548640" y="4151376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3F3EC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4151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6. Process message</a:t>
            </a:r>
            <a:endParaRPr lang="en-US" sz="1200" dirty="0"/>
          </a:p>
        </p:txBody>
      </p:sp>
      <p:sp>
        <p:nvSpPr>
          <p:cNvPr id="33" name="Flow denied"/>
          <p:cNvSpPr/>
          <p:nvPr/>
        </p:nvSpPr>
        <p:spPr>
          <a:xfrm>
            <a:off x="6126480" y="365760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BE4E7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3657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5. Access denied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Reject request, log security event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0920" y="4041648"/>
            <a:ext cx="0" cy="10972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Flow log"/>
          <p:cNvSpPr/>
          <p:nvPr/>
        </p:nvSpPr>
        <p:spPr>
          <a:xfrm>
            <a:off x="6126480" y="4151376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BE4E7"/>
          </a:solidFill>
          <a:ln w="9525">
            <a:solidFill>
              <a:srgbClr val="C5D3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4151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6. Log event</a:t>
            </a:r>
            <a:endParaRPr lang="en-US" sz="1200" dirty="0"/>
          </a:p>
        </p:txBody>
      </p:sp>
      <p:sp>
        <p:nvSpPr>
          <p:cNvPr id="38" name="Security note"/>
          <p:cNvSpPr/>
          <p:nvPr/>
        </p:nvSpPr>
        <p:spPr>
          <a:xfrm>
            <a:off x="3200400" y="3931920"/>
            <a:ext cx="274320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73552" y="3931920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Security note: verify identity and message integrity (HMAC) before authorization. A valid HMAC alone does not grant topic permissions.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Pseudocode: Algorithm 1, sender</a:t>
            </a:r>
            <a:endParaRPr lang="en-US" sz="3000" dirty="0"/>
          </a:p>
        </p:txBody>
      </p:sp>
      <p:sp>
        <p:nvSpPr>
          <p:cNvPr id="3" name="Code panel 1"/>
          <p:cNvSpPr/>
          <p:nvPr/>
        </p:nvSpPr>
        <p:spPr>
          <a:xfrm>
            <a:off x="457200" y="1097280"/>
            <a:ext cx="4023360" cy="3611880"/>
          </a:xfrm>
          <a:prstGeom prst="roundRect">
            <a:avLst>
              <a:gd name="adj" fmla="val 15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 Generate the sender's private and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public key pair.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 Load the receiver's public key.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 Establish a shared secret using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ECDH.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 Derive the encryption key using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HKDF.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 Connect to the MQTT broker.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 FOR each test case DO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6.1 Prepare the message and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access-control attributes: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Subject Role, Device ID,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Resource, Action, Location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6.2 Serialize the message and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attributes into a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transmittable data format.</a:t>
            </a:r>
            <a:endParaRPr lang="en-US" sz="900" dirty="0"/>
          </a:p>
        </p:txBody>
      </p:sp>
      <p:sp>
        <p:nvSpPr>
          <p:cNvPr id="5" name="Code panel 2"/>
          <p:cNvSpPr/>
          <p:nvPr/>
        </p:nvSpPr>
        <p:spPr>
          <a:xfrm>
            <a:off x="4663440" y="1097280"/>
            <a:ext cx="4023360" cy="3611880"/>
          </a:xfrm>
          <a:prstGeom prst="roundRect">
            <a:avLst>
              <a:gd name="adj" fmla="val 15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170432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6.3 Compute the HMAC of the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message.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6.4 Encrypt the message using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AES-EAX.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6.5 Create a packet containing: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Sender's Public Key, Encrypted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Message, Nonce, Auth Tag, HMAC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6.6 IF test case is 1 THEN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send valid message, permitted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access attributes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ELSE IF test case is 2 THEN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modify HMAC (tampering)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ELSE IF test case is 3 THEN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assign unauthorized role Guest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ELSE IF test case is 4 THEN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remove the Nonce field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END IF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6.7 Publish the packet via MQTT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END FOR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 Close the MQTT connection.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Pseudocode: Algorithm 2, receiver</a:t>
            </a:r>
            <a:endParaRPr lang="en-US" sz="3000" dirty="0"/>
          </a:p>
        </p:txBody>
      </p:sp>
      <p:sp>
        <p:nvSpPr>
          <p:cNvPr id="3" name="Code panel 1"/>
          <p:cNvSpPr/>
          <p:nvPr/>
        </p:nvSpPr>
        <p:spPr>
          <a:xfrm>
            <a:off x="457200" y="1097280"/>
            <a:ext cx="4023360" cy="3611880"/>
          </a:xfrm>
          <a:prstGeom prst="roundRect">
            <a:avLst>
              <a:gd name="adj" fmla="val 15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 Generate the receiver's key pair.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 Store the receiver's public key.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 Connect to the MQTT broker.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 Wait for an incoming message.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 WHEN a message is received DO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5.1 Parse the received packet.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5.2 IF any required field is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missing THEN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Print "Access Denied"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Print "Invalid Packet"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Terminate processing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END IF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5.3 Load the sender's public key.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5.4 Establish shared secret (ECDH).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5.5 Derive the AES key (HKDF).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5.6 Decrypt the message and verify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the AES-EAX authentication tag.</a:t>
            </a:r>
            <a:endParaRPr lang="en-US" sz="900" dirty="0"/>
          </a:p>
        </p:txBody>
      </p:sp>
      <p:sp>
        <p:nvSpPr>
          <p:cNvPr id="5" name="Code panel 2"/>
          <p:cNvSpPr/>
          <p:nvPr/>
        </p:nvSpPr>
        <p:spPr>
          <a:xfrm>
            <a:off x="4663440" y="1097280"/>
            <a:ext cx="4023360" cy="3611880"/>
          </a:xfrm>
          <a:prstGeom prst="roundRect">
            <a:avLst>
              <a:gd name="adj" fmla="val 15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170432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5.7 IF decryption or integrity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verification fails THEN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Print "Access Denied"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Print "Encryption Integrity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Verification Failed"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Terminate processing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END IF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5.8 Compute HMAC of the message.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5.9 Compare computed vs received HMAC.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5.10 Extract access attributes.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5.11 Apply the ABAC policy.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5.12 IF attributes fail the policy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Print "ABAC Policy Denied"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ELSE IF HMAC is invalid THEN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Print "Message Tampering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Detected"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ELSE Print "Access Granted",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"Message Integrity Verified"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END IF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END WHEN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F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eIoT">
  <a:themeElements>
    <a:clrScheme name="SecureIoT">
      <a:dk1>
        <a:srgbClr val="1B2A41"/>
      </a:dk1>
      <a:lt1>
        <a:srgbClr val="FFFFFF"/>
      </a:lt1>
      <a:dk2>
        <a:srgbClr val="0B1F3A"/>
      </a:dk2>
      <a:lt2>
        <a:srgbClr val="EAF1F7"/>
      </a:lt2>
      <a:accent1>
        <a:srgbClr val="12A39A"/>
      </a:accent1>
      <a:accent2>
        <a:srgbClr val="F0A22E"/>
      </a:accent2>
      <a:accent3>
        <a:srgbClr val="3A6EA5"/>
      </a:accent3>
      <a:accent4>
        <a:srgbClr val="7B5EA7"/>
      </a:accent4>
      <a:accent5>
        <a:srgbClr val="C23B4E"/>
      </a:accent5>
      <a:accent6>
        <a:srgbClr val="2F8F5B"/>
      </a:accent6>
      <a:hlink>
        <a:srgbClr val="12A39A"/>
      </a:hlink>
      <a:folHlink>
        <a:srgbClr val="7B5EA7"/>
      </a:folHlink>
    </a:clrScheme>
    <a:fontScheme name="SecureI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MQTT-Based IoT Communication: Project Presentation</dc:title>
  <dc:subject>PptxGenJS Presentation</dc:subject>
  <dc:creator>Sidrah Al-Ajlouni, Tareq Al-Shhadat</dc:creator>
  <cp:lastModifiedBy>Sidrah Al-Ajlouni, Tareq Al-Shhadat</cp:lastModifiedBy>
  <cp:revision>1</cp:revision>
  <dcterms:created xsi:type="dcterms:W3CDTF">2026-10-26T16:03:57Z</dcterms:created>
  <dcterms:modified xsi:type="dcterms:W3CDTF">2026-10-26T16:03:57Z</dcterms:modified>
</cp:coreProperties>
</file>